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3F7"/>
          </a:solidFill>
          <a:ln>
            <a:solidFill>
              <a:srgbClr val="F0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92334"/>
                </a:solidFill>
              </a:rPr>
              <a:t>2026 上半年專案成果報告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458A5"/>
                </a:solidFill>
              </a:rPr>
              <a:t>AI Dashboard × 採購報價比價系統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5943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270"/>
                </a:solidFill>
              </a:defRPr>
            </a:pPr>
            <a:r>
              <a:t>聚焦 AI 平台治理、即時監控與採購流程數位化</a:t>
            </a:r>
          </a:p>
          <a:p>
            <a:pPr>
              <a:defRPr sz="1800">
                <a:solidFill>
                  <a:srgbClr val="5A6270"/>
                </a:solidFill>
              </a:defRPr>
            </a:pPr>
            <a:r>
              <a:t>降低跨系統查詢、人工作業與決策風險</a:t>
            </a:r>
          </a:p>
          <a:p>
            <a:pPr>
              <a:defRPr sz="1800">
                <a:solidFill>
                  <a:srgbClr val="5A6270"/>
                </a:solidFill>
              </a:defRPr>
            </a:pPr>
            <a:r>
              <a:t>以可視化與流程化方式提升營運效率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334"/>
                </a:solidFill>
              </a:rPr>
              <a:t>專案一｜AI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270"/>
                </a:solidFill>
              </a:rPr>
              <a:t>AI 使用、成本、服務與基礎設施整合監控平台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92334"/>
                </a:solidFill>
              </a:defRPr>
            </a:pPr>
            <a:r>
              <a:t>整合 AI 使用量、模型成本、服務流量與 Kubernetes 監控</a:t>
            </a:r>
          </a:p>
          <a:p>
            <a:pPr>
              <a:spcAft>
                <a:spcPts val="1200"/>
              </a:spcAft>
              <a:defRPr sz="1800">
                <a:solidFill>
                  <a:srgbClr val="192334"/>
                </a:solidFill>
              </a:defRPr>
            </a:pPr>
            <a:r>
              <a:t>支援從總覽 → 模型 → 服務 → 主機 → Pod 的 drill-down 分析</a:t>
            </a:r>
          </a:p>
          <a:p>
            <a:pPr>
              <a:spcAft>
                <a:spcPts val="1200"/>
              </a:spcAft>
              <a:defRPr sz="1800">
                <a:solidFill>
                  <a:srgbClr val="192334"/>
                </a:solidFill>
              </a:defRPr>
            </a:pPr>
            <a:r>
              <a:t>透過 SSE 即時監控異常事件，縮短故障定位時間</a:t>
            </a:r>
          </a:p>
          <a:p>
            <a:pPr>
              <a:spcAft>
                <a:spcPts val="1200"/>
              </a:spcAft>
              <a:defRPr sz="1800">
                <a:solidFill>
                  <a:srgbClr val="192334"/>
                </a:solidFill>
              </a:defRPr>
            </a:pPr>
            <a:r>
              <a:t>建立跨部門共用的單一數據入口，降低對帳與溝通成本</a:t>
            </a:r>
          </a:p>
        </p:txBody>
      </p:sp>
      <p:pic>
        <p:nvPicPr>
          <p:cNvPr id="5" name="Picture 4" descr="file_00000000a7147209b147da57952e6ab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80160"/>
            <a:ext cx="5303520" cy="25999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334"/>
                </a:solidFill>
              </a:rPr>
              <a:t>AI Dashboard｜管理價值與效益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92334"/>
                </a:solidFill>
              </a:defRPr>
            </a:pPr>
            <a:r>
              <a:t>主管可快速掌握模型使用集中度、成本與服務成長趨勢</a:t>
            </a:r>
          </a:p>
          <a:p>
            <a:pPr>
              <a:spcAft>
                <a:spcPts val="1200"/>
              </a:spcAft>
              <a:defRPr sz="1800">
                <a:solidFill>
                  <a:srgbClr val="192334"/>
                </a:solidFill>
              </a:defRPr>
            </a:pPr>
            <a:r>
              <a:t>維運可即時發現 Pod / Container 異常與 GPU 資源警戒</a:t>
            </a:r>
          </a:p>
          <a:p>
            <a:pPr>
              <a:spcAft>
                <a:spcPts val="1200"/>
              </a:spcAft>
              <a:defRPr sz="1800">
                <a:solidFill>
                  <a:srgbClr val="192334"/>
                </a:solidFill>
              </a:defRPr>
            </a:pPr>
            <a:r>
              <a:t>降低人工查 API、監控系統與 Kubernetes 的切換成本</a:t>
            </a:r>
          </a:p>
          <a:p>
            <a:pPr>
              <a:spcAft>
                <a:spcPts val="1200"/>
              </a:spcAft>
              <a:defRPr sz="1800">
                <a:solidFill>
                  <a:srgbClr val="192334"/>
                </a:solidFill>
              </a:defRPr>
            </a:pPr>
            <a:r>
              <a:t>協助評估模型替換、資源調度與預算治理</a:t>
            </a:r>
          </a:p>
        </p:txBody>
      </p:sp>
      <p:pic>
        <p:nvPicPr>
          <p:cNvPr id="4" name="Picture 3" descr="file_00000000a4747206a472741ceae8a97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2743200" cy="1359098"/>
          </a:xfrm>
          <a:prstGeom prst="rect">
            <a:avLst/>
          </a:prstGeom>
        </p:spPr>
      </p:pic>
      <p:pic>
        <p:nvPicPr>
          <p:cNvPr id="5" name="Picture 4" descr="file_0000000076c07209ae2e0bcb81bd6b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188720"/>
            <a:ext cx="2743200" cy="1350169"/>
          </a:xfrm>
          <a:prstGeom prst="rect">
            <a:avLst/>
          </a:prstGeom>
        </p:spPr>
      </p:pic>
      <p:pic>
        <p:nvPicPr>
          <p:cNvPr id="6" name="Picture 5" descr="file_000000007e8c72099030d32474e41ba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657600"/>
            <a:ext cx="5577840" cy="27780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334"/>
                </a:solidFill>
              </a:rPr>
              <a:t>專案二｜報價單比價系統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270"/>
                </a:solidFill>
              </a:rPr>
              <a:t>採購 PDF 報價整併、檢核與最低價分析流程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9377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92334"/>
                </a:solidFill>
              </a:defRPr>
            </a:pPr>
            <a:r>
              <a:t>支援多份 PDF 報價單上傳與自動正規化</a:t>
            </a:r>
          </a:p>
          <a:p>
            <a:pPr>
              <a:spcAft>
                <a:spcPts val="1200"/>
              </a:spcAft>
              <a:defRPr sz="1800">
                <a:solidFill>
                  <a:srgbClr val="192334"/>
                </a:solidFill>
              </a:defRPr>
            </a:pPr>
            <a:r>
              <a:t>自動生成比價總表並計算最低價與總計</a:t>
            </a:r>
          </a:p>
          <a:p>
            <a:pPr>
              <a:spcAft>
                <a:spcPts val="1200"/>
              </a:spcAft>
              <a:defRPr sz="1800">
                <a:solidFill>
                  <a:srgbClr val="192334"/>
                </a:solidFill>
              </a:defRPr>
            </a:pPr>
            <a:r>
              <a:t>提供數值檢核、不明廠商警示與人工修正機制</a:t>
            </a:r>
          </a:p>
          <a:p>
            <a:pPr>
              <a:spcAft>
                <a:spcPts val="1200"/>
              </a:spcAft>
              <a:defRPr sz="1800">
                <a:solidFill>
                  <a:srgbClr val="192334"/>
                </a:solidFill>
              </a:defRPr>
            </a:pPr>
            <a:r>
              <a:t>降低人工 Excel 搬資料與比價錯誤風險</a:t>
            </a:r>
          </a:p>
        </p:txBody>
      </p:sp>
      <p:pic>
        <p:nvPicPr>
          <p:cNvPr id="5" name="Picture 4" descr="file_00000000ec287206b6b62f3aff6402b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80160"/>
            <a:ext cx="5120640" cy="1706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334"/>
                </a:solidFill>
              </a:rPr>
              <a:t>報價單比價系統｜流程與效益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92334"/>
                </a:solidFill>
              </a:defRPr>
            </a:pPr>
            <a:r>
              <a:t>將「收件 → 整理 → 比價 → 校驗 → 輸出」整合為單一流程</a:t>
            </a:r>
          </a:p>
          <a:p>
            <a:pPr>
              <a:spcAft>
                <a:spcPts val="1200"/>
              </a:spcAft>
              <a:defRPr sz="1800">
                <a:solidFill>
                  <a:srgbClr val="192334"/>
                </a:solidFill>
              </a:defRPr>
            </a:pPr>
            <a:r>
              <a:t>大型表格使用 worker 與分批渲染，提升實際作業效能</a:t>
            </a:r>
          </a:p>
          <a:p>
            <a:pPr>
              <a:spcAft>
                <a:spcPts val="1200"/>
              </a:spcAft>
              <a:defRPr sz="1800">
                <a:solidFill>
                  <a:srgbClr val="192334"/>
                </a:solidFill>
              </a:defRPr>
            </a:pPr>
            <a:r>
              <a:t>支援多案件與多分頁隔離，降低資料互相污染風險</a:t>
            </a:r>
          </a:p>
          <a:p>
            <a:pPr>
              <a:spcAft>
                <a:spcPts val="1200"/>
              </a:spcAft>
              <a:defRPr sz="1800">
                <a:solidFill>
                  <a:srgbClr val="192334"/>
                </a:solidFill>
              </a:defRPr>
            </a:pPr>
            <a:r>
              <a:t>預估每月可節省 20~60 小時人工整理與比價時間</a:t>
            </a:r>
          </a:p>
        </p:txBody>
      </p:sp>
      <p:pic>
        <p:nvPicPr>
          <p:cNvPr id="4" name="Picture 3" descr="file_00000000843472069bd8d3a78fb3bf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188720"/>
            <a:ext cx="2743200" cy="1341239"/>
          </a:xfrm>
          <a:prstGeom prst="rect">
            <a:avLst/>
          </a:prstGeom>
        </p:spPr>
      </p:pic>
      <p:pic>
        <p:nvPicPr>
          <p:cNvPr id="5" name="Picture 4" descr="file_00000000fad07209b18651e5d49bc8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188720"/>
            <a:ext cx="2743200" cy="1346597"/>
          </a:xfrm>
          <a:prstGeom prst="rect">
            <a:avLst/>
          </a:prstGeom>
        </p:spPr>
      </p:pic>
      <p:pic>
        <p:nvPicPr>
          <p:cNvPr id="6" name="Picture 5" descr="file_000000007d0872099e767e07df4ef00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657600"/>
            <a:ext cx="5577840" cy="27598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334"/>
                </a:solidFill>
              </a:rPr>
              <a:t>整體成果與下階段方向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241280" cy="3474720"/>
          </a:xfrm>
          <a:prstGeom prst="rect">
            <a:avLst/>
          </a:prstGeom>
          <a:solidFill>
            <a:srgbClr val="F0F3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96012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334"/>
                </a:solidFill>
              </a:defRPr>
            </a:pPr>
            <a:r>
              <a:t>■ AI Dashboard｜完成 AI 平台治理、成本分析與即時監控整合</a:t>
            </a:r>
          </a:p>
          <a:p>
            <a:pPr>
              <a:spcAft>
                <a:spcPts val="1800"/>
              </a:spcAft>
              <a:defRPr sz="2000">
                <a:solidFill>
                  <a:srgbClr val="192334"/>
                </a:solidFill>
              </a:defRPr>
            </a:pPr>
            <a:r>
              <a:t>■ 報價單比價系統｜完成採購比價流程數位化與標準化</a:t>
            </a:r>
          </a:p>
          <a:p>
            <a:pPr>
              <a:spcAft>
                <a:spcPts val="1800"/>
              </a:spcAft>
              <a:defRPr sz="2000">
                <a:solidFill>
                  <a:srgbClr val="192334"/>
                </a:solidFill>
              </a:defRPr>
            </a:pPr>
            <a:r>
              <a:t>■ 核心價值｜降低人工流程、提升異常可視性與決策效率</a:t>
            </a:r>
          </a:p>
          <a:p>
            <a:pPr>
              <a:spcAft>
                <a:spcPts val="1800"/>
              </a:spcAft>
              <a:defRPr sz="2000">
                <a:solidFill>
                  <a:srgbClr val="192334"/>
                </a:solidFill>
              </a:defRPr>
            </a:pPr>
            <a:r>
              <a:t>■ 後續方向｜持續補強 metadata、自動化規則與資料治理能力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270"/>
                </a:solidFill>
              </a:rPr>
              <a:t>3 分鐘主管簡報版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